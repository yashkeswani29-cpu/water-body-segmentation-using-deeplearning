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8" r:id="rId9"/>
    <p:sldId id="263" r:id="rId10"/>
    <p:sldId id="264" r:id="rId11"/>
    <p:sldId id="266" r:id="rId12"/>
    <p:sldId id="267" r:id="rId13"/>
    <p:sldId id="270" r:id="rId14"/>
    <p:sldId id="271" r:id="rId15"/>
    <p:sldId id="272" r:id="rId16"/>
    <p:sldId id="273" r:id="rId17"/>
    <p:sldId id="274" r:id="rId18"/>
    <p:sldId id="275" r:id="rId19"/>
    <p:sldId id="276" r:id="rId20"/>
    <p:sldId id="277" r:id="rId21"/>
    <p:sldId id="278" r:id="rId22"/>
    <p:sldId id="265" r:id="rId23"/>
    <p:sldId id="279"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1570"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476" y="2453634"/>
            <a:ext cx="8229600" cy="1143000"/>
          </a:xfrm>
        </p:spPr>
        <p:txBody>
          <a:bodyPr/>
          <a:lstStyle/>
          <a:p>
            <a:r>
              <a:rPr lang="en-IN" b="1" dirty="0"/>
              <a:t>RESEARCH PAPER SUMMARIES</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Surface Water Detection in Remote Sensing Images Using a Deep Stacked Ensemble Model</a:t>
            </a:r>
            <a:br>
              <a:rPr lang="en-US" sz="2000" b="1" dirty="0"/>
            </a:br>
            <a:br>
              <a:rPr lang="en-US" sz="2000" dirty="0"/>
            </a:br>
            <a:r>
              <a:rPr lang="en-US" sz="3600" b="1" dirty="0"/>
              <a:t> Introduction</a:t>
            </a:r>
            <a:endParaRPr sz="3600" b="1" dirty="0"/>
          </a:p>
        </p:txBody>
      </p:sp>
      <p:sp>
        <p:nvSpPr>
          <p:cNvPr id="3" name="Content Placeholder 2"/>
          <p:cNvSpPr>
            <a:spLocks noGrp="1"/>
          </p:cNvSpPr>
          <p:nvPr>
            <p:ph idx="1"/>
          </p:nvPr>
        </p:nvSpPr>
        <p:spPr>
          <a:xfrm>
            <a:off x="457200" y="1858108"/>
            <a:ext cx="8229600" cy="4525963"/>
          </a:xfrm>
        </p:spPr>
        <p:txBody>
          <a:bodyPr>
            <a:normAutofit fontScale="62500" lnSpcReduction="20000"/>
          </a:bodyPr>
          <a:lstStyle/>
          <a:p>
            <a:r>
              <a:rPr lang="en-US" dirty="0"/>
              <a:t>A good way to deal with the  problem of population growth, urban development, and human activities which  are putting pressure on water resources ,is to find and keep track of water resources properly. </a:t>
            </a:r>
          </a:p>
          <a:p>
            <a:r>
              <a:rPr lang="en-US" dirty="0"/>
              <a:t>Climate change also makes this research more important because it directly affects the water cycle.</a:t>
            </a:r>
          </a:p>
          <a:p>
            <a:r>
              <a:rPr lang="en-US" dirty="0"/>
              <a:t> So, finding and managing water resources is very important for predicting and preventing problems like floods and droughts</a:t>
            </a:r>
            <a:endParaRPr lang="en-IN" dirty="0"/>
          </a:p>
          <a:p>
            <a:endParaRPr lang="en-IN" dirty="0"/>
          </a:p>
          <a:p>
            <a:r>
              <a:rPr dirty="0"/>
              <a:t>Manual monitoring is slow and spatially limited.</a:t>
            </a:r>
            <a:endParaRPr lang="en-IN" dirty="0"/>
          </a:p>
          <a:p>
            <a:endParaRPr dirty="0"/>
          </a:p>
          <a:p>
            <a:r>
              <a:rPr dirty="0"/>
              <a:t>Remote sensing + Deep Learning = </a:t>
            </a:r>
            <a:r>
              <a:rPr lang="en-IN" dirty="0"/>
              <a:t>														</a:t>
            </a:r>
            <a:r>
              <a:rPr dirty="0"/>
              <a:t>automated detection.</a:t>
            </a:r>
          </a:p>
          <a:p>
            <a:r>
              <a:rPr dirty="0"/>
              <a:t> </a:t>
            </a:r>
            <a:r>
              <a:rPr b="1" dirty="0"/>
              <a:t>Goal</a:t>
            </a:r>
            <a:r>
              <a:rPr dirty="0"/>
              <a:t>: Accurate detection of surface water</a:t>
            </a:r>
            <a:r>
              <a:rPr lang="en-IN" dirty="0"/>
              <a:t>(segmentation of waterbodies)</a:t>
            </a:r>
            <a:r>
              <a:rPr dirty="0"/>
              <a:t> from satellite images.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0"/>
            <a:ext cx="8229600" cy="1143000"/>
          </a:xfrm>
        </p:spPr>
        <p:txBody>
          <a:bodyPr/>
          <a:lstStyle/>
          <a:p>
            <a:r>
              <a:rPr dirty="0"/>
              <a:t> </a:t>
            </a:r>
            <a:r>
              <a:rPr b="1" dirty="0"/>
              <a:t>Literature Review</a:t>
            </a:r>
          </a:p>
        </p:txBody>
      </p:sp>
      <p:sp>
        <p:nvSpPr>
          <p:cNvPr id="6" name="Rectangle 3">
            <a:extLst>
              <a:ext uri="{FF2B5EF4-FFF2-40B4-BE49-F238E27FC236}">
                <a16:creationId xmlns:a16="http://schemas.microsoft.com/office/drawing/2014/main" id="{30573593-DB32-9184-5682-71A4764D1002}"/>
              </a:ext>
            </a:extLst>
          </p:cNvPr>
          <p:cNvSpPr>
            <a:spLocks noGrp="1" noChangeArrowheads="1"/>
          </p:cNvSpPr>
          <p:nvPr>
            <p:ph idx="1"/>
          </p:nvPr>
        </p:nvSpPr>
        <p:spPr bwMode="auto">
          <a:xfrm>
            <a:off x="457199" y="1047028"/>
            <a:ext cx="786967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Index-based (NDWI, MNDWI, AWEI):</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Simple and fast, but limited by spectral confusion and poor performance in shadow or urban areas.</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Machine Learning (SVM, RF):</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Needs manual feature design; struggles with imbalanced data and high noise.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Deep Learning (U-Net, </a:t>
            </a:r>
            <a:r>
              <a:rPr kumimoji="0" lang="en-US" altLang="en-US" sz="2000" b="1" i="0" u="none" strike="noStrike" cap="none" normalizeH="0" baseline="0" dirty="0" err="1">
                <a:ln>
                  <a:noFill/>
                </a:ln>
                <a:solidFill>
                  <a:schemeClr val="tx1"/>
                </a:solidFill>
                <a:effectLst/>
                <a:latin typeface="Arial" panose="020B0604020202020204" pitchFamily="34" charset="0"/>
              </a:rPr>
              <a:t>DeepWaterMap</a:t>
            </a:r>
            <a:r>
              <a:rPr kumimoji="0" lang="en-US" altLang="en-US" sz="2000" b="1" i="0" u="none" strike="noStrike" cap="none" normalizeH="0" baseline="0" dirty="0">
                <a:ln>
                  <a:noFill/>
                </a:ln>
                <a:solidFill>
                  <a:schemeClr val="tx1"/>
                </a:solidFill>
                <a:effectLst/>
                <a:latin typeface="Arial" panose="020B0604020202020204" pitchFamily="34" charset="0"/>
              </a:rPr>
              <a:t>, BCDU-Net):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U-Net</a:t>
            </a:r>
            <a:r>
              <a:rPr kumimoji="0" lang="en-US" altLang="en-US" sz="2000" b="0" i="0" u="none" strike="noStrike" cap="none" normalizeH="0" baseline="0" dirty="0">
                <a:ln>
                  <a:noFill/>
                </a:ln>
                <a:solidFill>
                  <a:schemeClr val="tx1"/>
                </a:solidFill>
                <a:effectLst/>
                <a:latin typeface="Arial" panose="020B0604020202020204" pitchFamily="34" charset="0"/>
              </a:rPr>
              <a:t>: May blur boundaries and miss small water features.</a:t>
            </a:r>
          </a:p>
          <a:p>
            <a:pPr marL="400050" lvl="1" indent="0" defTabSz="914400" eaLnBrk="0" fontAlgn="base" hangingPunct="0">
              <a:spcBef>
                <a:spcPct val="0"/>
              </a:spcBef>
              <a:spcAft>
                <a:spcPct val="0"/>
              </a:spcAft>
              <a:buFontTx/>
              <a:buChar char="•"/>
            </a:pPr>
            <a:r>
              <a:rPr kumimoji="0" lang="en-US" altLang="en-US" sz="2000" b="1" i="0" u="none" strike="noStrike" cap="none" normalizeH="0" baseline="0" dirty="0" err="1">
                <a:ln>
                  <a:noFill/>
                </a:ln>
                <a:solidFill>
                  <a:schemeClr val="tx1"/>
                </a:solidFill>
                <a:effectLst/>
                <a:latin typeface="Arial" panose="020B0604020202020204" pitchFamily="34" charset="0"/>
              </a:rPr>
              <a:t>DeepWaterMap</a:t>
            </a:r>
            <a:r>
              <a:rPr kumimoji="0" lang="en-US" altLang="en-US" sz="2000" b="0" i="0" u="none" strike="noStrike" cap="none" normalizeH="0" baseline="0" dirty="0">
                <a:ln>
                  <a:noFill/>
                </a:ln>
                <a:solidFill>
                  <a:schemeClr val="tx1"/>
                </a:solidFill>
                <a:effectLst/>
                <a:latin typeface="Arial" panose="020B0604020202020204" pitchFamily="34" charset="0"/>
              </a:rPr>
              <a:t>: Performs poorly on tiny or scattered water regions.</a:t>
            </a:r>
          </a:p>
          <a:p>
            <a:pPr marL="400050" lvl="1" indent="0" defTabSz="91440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BCDU-Net</a:t>
            </a:r>
            <a:r>
              <a:rPr kumimoji="0" lang="en-US" altLang="en-US" sz="2000" b="0" i="0" u="none" strike="noStrike" cap="none" normalizeH="0" baseline="0" dirty="0">
                <a:ln>
                  <a:noFill/>
                </a:ln>
                <a:solidFill>
                  <a:schemeClr val="tx1"/>
                </a:solidFill>
                <a:effectLst/>
                <a:latin typeface="Arial" panose="020B0604020202020204" pitchFamily="34" charset="0"/>
              </a:rPr>
              <a:t>: High accuracy but computationally heavy and slow to train.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Need for Fusion:</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An ensemble combines strengths of each model, improving accuracy and reliability.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a:t>
            </a:r>
            <a:r>
              <a:rPr b="1" dirty="0"/>
              <a:t>State of the Art</a:t>
            </a:r>
          </a:p>
        </p:txBody>
      </p:sp>
      <p:sp>
        <p:nvSpPr>
          <p:cNvPr id="3" name="Content Placeholder 2"/>
          <p:cNvSpPr>
            <a:spLocks noGrp="1"/>
          </p:cNvSpPr>
          <p:nvPr>
            <p:ph idx="1"/>
          </p:nvPr>
        </p:nvSpPr>
        <p:spPr/>
        <p:txBody>
          <a:bodyPr/>
          <a:lstStyle/>
          <a:p>
            <a:r>
              <a:rPr dirty="0"/>
              <a:t>- </a:t>
            </a:r>
            <a:r>
              <a:rPr b="1" dirty="0"/>
              <a:t>U-Net</a:t>
            </a:r>
            <a:r>
              <a:rPr dirty="0"/>
              <a:t>: Effective in medical and satellite segmentation.</a:t>
            </a:r>
          </a:p>
          <a:p>
            <a:r>
              <a:rPr dirty="0"/>
              <a:t>-</a:t>
            </a:r>
            <a:r>
              <a:rPr b="1" dirty="0"/>
              <a:t> </a:t>
            </a:r>
            <a:r>
              <a:rPr b="1" dirty="0" err="1"/>
              <a:t>DeepWaterMap</a:t>
            </a:r>
            <a:r>
              <a:rPr dirty="0"/>
              <a:t>: Multi-scale CNN for waterline detection.</a:t>
            </a:r>
          </a:p>
          <a:p>
            <a:r>
              <a:rPr dirty="0"/>
              <a:t>- </a:t>
            </a:r>
            <a:r>
              <a:rPr b="1" dirty="0"/>
              <a:t>BCDU-Net</a:t>
            </a:r>
            <a:r>
              <a:rPr dirty="0"/>
              <a:t>: Memory </a:t>
            </a:r>
            <a:r>
              <a:rPr lang="en-IN" dirty="0"/>
              <a:t>and </a:t>
            </a:r>
            <a:r>
              <a:rPr dirty="0"/>
              <a:t> spatial features; great for thin rivers.</a:t>
            </a:r>
          </a:p>
          <a:p>
            <a:r>
              <a:rPr dirty="0"/>
              <a:t>- Combining strengths enables robust surface water detection.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 Problem Statement</a:t>
            </a:r>
          </a:p>
        </p:txBody>
      </p:sp>
      <p:sp>
        <p:nvSpPr>
          <p:cNvPr id="3" name="Content Placeholder 2"/>
          <p:cNvSpPr>
            <a:spLocks noGrp="1"/>
          </p:cNvSpPr>
          <p:nvPr>
            <p:ph idx="1"/>
          </p:nvPr>
        </p:nvSpPr>
        <p:spPr>
          <a:xfrm>
            <a:off x="457200" y="1584325"/>
            <a:ext cx="8229600" cy="4525963"/>
          </a:xfrm>
        </p:spPr>
        <p:txBody>
          <a:bodyPr/>
          <a:lstStyle/>
          <a:p>
            <a:r>
              <a:rPr dirty="0"/>
              <a:t>Surface water varies in size, shape, and appearance.</a:t>
            </a:r>
          </a:p>
          <a:p>
            <a:r>
              <a:rPr dirty="0"/>
              <a:t>Single </a:t>
            </a:r>
            <a:r>
              <a:rPr lang="en-IN" dirty="0"/>
              <a:t>deep learning</a:t>
            </a:r>
            <a:r>
              <a:rPr dirty="0"/>
              <a:t> models fail to generalize.</a:t>
            </a:r>
          </a:p>
          <a:p>
            <a:r>
              <a:rPr lang="en-IN" b="1" dirty="0"/>
              <a:t>Need </a:t>
            </a:r>
            <a:r>
              <a:rPr dirty="0"/>
              <a:t>:</a:t>
            </a:r>
            <a:r>
              <a:rPr lang="en-IN" dirty="0"/>
              <a:t> t</a:t>
            </a:r>
            <a:r>
              <a:rPr lang="en-US" dirty="0"/>
              <a:t>here is a need for a unified approach that combines the strengths of multiple deep learning models to ensure accurate, robust, and generalizable surface water detection.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Research Objective</a:t>
            </a:r>
          </a:p>
        </p:txBody>
      </p:sp>
      <p:sp>
        <p:nvSpPr>
          <p:cNvPr id="3" name="Content Placeholder 2"/>
          <p:cNvSpPr>
            <a:spLocks noGrp="1"/>
          </p:cNvSpPr>
          <p:nvPr>
            <p:ph idx="1"/>
          </p:nvPr>
        </p:nvSpPr>
        <p:spPr/>
        <p:txBody>
          <a:bodyPr/>
          <a:lstStyle/>
          <a:p>
            <a:r>
              <a:t>This research trains and optimizes U-Net, DeepWaterMap, and BCDU-Net on surface water data, combining them into a deep stacked ensemble model for robust surface water detection.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Methodology</a:t>
            </a:r>
          </a:p>
        </p:txBody>
      </p:sp>
      <p:sp>
        <p:nvSpPr>
          <p:cNvPr id="3" name="Content Placeholder 2"/>
          <p:cNvSpPr>
            <a:spLocks noGrp="1"/>
          </p:cNvSpPr>
          <p:nvPr>
            <p:ph idx="1"/>
          </p:nvPr>
        </p:nvSpPr>
        <p:spPr>
          <a:xfrm>
            <a:off x="340468" y="1507790"/>
            <a:ext cx="8346332" cy="4618374"/>
          </a:xfrm>
        </p:spPr>
        <p:txBody>
          <a:bodyPr>
            <a:normAutofit fontScale="85000" lnSpcReduction="20000"/>
          </a:bodyPr>
          <a:lstStyle/>
          <a:p>
            <a:r>
              <a:rPr sz="3100" dirty="0"/>
              <a:t>Preprocessing: Normalization, Augmentation (~11k images).</a:t>
            </a:r>
          </a:p>
          <a:p>
            <a:r>
              <a:rPr sz="3100" dirty="0"/>
              <a:t>Independent training of 3 sub-models.</a:t>
            </a:r>
            <a:endParaRPr lang="en-IN" sz="3100" dirty="0"/>
          </a:p>
          <a:p>
            <a:pPr marL="0" lvl="0" indent="0" defTabSz="914400" eaLnBrk="0" fontAlgn="base" hangingPunct="0">
              <a:spcBef>
                <a:spcPct val="0"/>
              </a:spcBef>
              <a:spcAft>
                <a:spcPct val="0"/>
              </a:spcAft>
              <a:buFontTx/>
              <a:buChar char="•"/>
            </a:pPr>
            <a:endParaRPr lang="en-US" altLang="en-US" sz="3100" dirty="0">
              <a:latin typeface="Arial" panose="020B0604020202020204" pitchFamily="34" charset="0"/>
            </a:endParaRPr>
          </a:p>
          <a:p>
            <a:pPr marL="0" lvl="0" indent="0" defTabSz="914400" eaLnBrk="0" fontAlgn="base" hangingPunct="0">
              <a:spcBef>
                <a:spcPct val="0"/>
              </a:spcBef>
              <a:spcAft>
                <a:spcPct val="0"/>
              </a:spcAft>
              <a:buFontTx/>
              <a:buChar char="•"/>
            </a:pPr>
            <a:r>
              <a:rPr lang="en-US" altLang="en-US" sz="3100" dirty="0">
                <a:latin typeface="Arial" panose="020B0604020202020204" pitchFamily="34" charset="0"/>
              </a:rPr>
              <a:t>  Combine prediction masks from U-Net,   </a:t>
            </a:r>
            <a:r>
              <a:rPr lang="en-US" altLang="en-US" sz="3100" dirty="0" err="1">
                <a:latin typeface="Arial" panose="020B0604020202020204" pitchFamily="34" charset="0"/>
              </a:rPr>
              <a:t>DeepWaterMap</a:t>
            </a:r>
            <a:r>
              <a:rPr lang="en-US" altLang="en-US" sz="3100" dirty="0">
                <a:latin typeface="Arial" panose="020B0604020202020204" pitchFamily="34" charset="0"/>
              </a:rPr>
              <a:t>, and BCDU-Net.</a:t>
            </a:r>
          </a:p>
          <a:p>
            <a:pPr marL="0" lvl="0" indent="0" defTabSz="914400" eaLnBrk="0" fontAlgn="base" hangingPunct="0">
              <a:spcBef>
                <a:spcPct val="0"/>
              </a:spcBef>
              <a:spcAft>
                <a:spcPct val="0"/>
              </a:spcAft>
              <a:buFontTx/>
              <a:buChar char="•"/>
            </a:pPr>
            <a:endParaRPr lang="en-US" altLang="en-US" sz="3100" dirty="0">
              <a:latin typeface="Arial" panose="020B0604020202020204" pitchFamily="34" charset="0"/>
            </a:endParaRPr>
          </a:p>
          <a:p>
            <a:pPr marL="0" lvl="0" indent="0" defTabSz="914400" eaLnBrk="0" fontAlgn="base" hangingPunct="0">
              <a:spcBef>
                <a:spcPct val="0"/>
              </a:spcBef>
              <a:spcAft>
                <a:spcPct val="0"/>
              </a:spcAft>
              <a:buFontTx/>
              <a:buChar char="•"/>
            </a:pPr>
            <a:r>
              <a:rPr lang="en-US" altLang="en-US" sz="3100" dirty="0">
                <a:latin typeface="Arial" panose="020B0604020202020204" pitchFamily="34" charset="0"/>
              </a:rPr>
              <a:t>  Stack them as a </a:t>
            </a:r>
            <a:r>
              <a:rPr lang="en-US" altLang="en-US" sz="3100" b="1" dirty="0">
                <a:latin typeface="Arial" panose="020B0604020202020204" pitchFamily="34" charset="0"/>
              </a:rPr>
              <a:t>3-channel input</a:t>
            </a:r>
            <a:r>
              <a:rPr lang="en-US" altLang="en-US" sz="3100" dirty="0">
                <a:latin typeface="Arial" panose="020B0604020202020204" pitchFamily="34" charset="0"/>
              </a:rPr>
              <a:t> to a new CNN block.</a:t>
            </a:r>
          </a:p>
          <a:p>
            <a:pPr marL="0" lvl="0" indent="0" defTabSz="914400" eaLnBrk="0" fontAlgn="base" hangingPunct="0">
              <a:spcBef>
                <a:spcPct val="0"/>
              </a:spcBef>
              <a:spcAft>
                <a:spcPct val="0"/>
              </a:spcAft>
              <a:buFontTx/>
              <a:buChar char="•"/>
            </a:pPr>
            <a:endParaRPr lang="en-US" altLang="en-US" sz="3100" dirty="0">
              <a:latin typeface="Arial" panose="020B0604020202020204" pitchFamily="34" charset="0"/>
            </a:endParaRPr>
          </a:p>
          <a:p>
            <a:pPr marL="0" lvl="0" indent="0" defTabSz="914400" eaLnBrk="0" fontAlgn="base" hangingPunct="0">
              <a:spcBef>
                <a:spcPct val="0"/>
              </a:spcBef>
              <a:spcAft>
                <a:spcPct val="0"/>
              </a:spcAft>
              <a:buFontTx/>
              <a:buChar char="•"/>
            </a:pPr>
            <a:r>
              <a:rPr lang="en-US" altLang="en-US" sz="3100" dirty="0">
                <a:latin typeface="Arial" panose="020B0604020202020204" pitchFamily="34" charset="0"/>
              </a:rPr>
              <a:t>Pass through </a:t>
            </a:r>
            <a:r>
              <a:rPr lang="en-US" altLang="en-US" sz="3100" b="1" dirty="0">
                <a:latin typeface="Arial" panose="020B0604020202020204" pitchFamily="34" charset="0"/>
              </a:rPr>
              <a:t>3 convolutional layers</a:t>
            </a:r>
            <a:r>
              <a:rPr lang="en-US" altLang="en-US" sz="3100" dirty="0">
                <a:latin typeface="Arial" panose="020B0604020202020204" pitchFamily="34" charset="0"/>
              </a:rPr>
              <a:t> (3→2→1 filters).</a:t>
            </a:r>
          </a:p>
          <a:p>
            <a:pPr marL="0" lvl="0" indent="0" defTabSz="914400" eaLnBrk="0" fontAlgn="base" hangingPunct="0">
              <a:spcBef>
                <a:spcPct val="0"/>
              </a:spcBef>
              <a:spcAft>
                <a:spcPct val="0"/>
              </a:spcAft>
              <a:buFontTx/>
              <a:buChar char="•"/>
            </a:pPr>
            <a:endParaRPr lang="en-US" altLang="en-US" sz="3100" dirty="0">
              <a:latin typeface="Arial" panose="020B0604020202020204" pitchFamily="34" charset="0"/>
            </a:endParaRPr>
          </a:p>
          <a:p>
            <a:pPr marL="0" lvl="0" indent="0" defTabSz="914400" eaLnBrk="0" fontAlgn="base" hangingPunct="0">
              <a:spcBef>
                <a:spcPct val="0"/>
              </a:spcBef>
              <a:spcAft>
                <a:spcPct val="0"/>
              </a:spcAft>
              <a:buFontTx/>
              <a:buChar char="•"/>
            </a:pPr>
            <a:r>
              <a:rPr lang="en-US" altLang="en-US" sz="3100" dirty="0">
                <a:latin typeface="Arial" panose="020B0604020202020204" pitchFamily="34" charset="0"/>
              </a:rPr>
              <a:t>Only the ensemble’s final layers are trained (base models frozen).</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7EBAE-E9C1-575A-B637-59A6FA119BEC}"/>
              </a:ext>
            </a:extLst>
          </p:cNvPr>
          <p:cNvSpPr>
            <a:spLocks noGrp="1"/>
          </p:cNvSpPr>
          <p:nvPr>
            <p:ph idx="1"/>
          </p:nvPr>
        </p:nvSpPr>
        <p:spPr/>
        <p:txBody>
          <a:bodyPr/>
          <a:lstStyle/>
          <a:p>
            <a:r>
              <a:rPr lang="en-US" b="1" dirty="0"/>
              <a:t>Post-processing</a:t>
            </a:r>
          </a:p>
          <a:p>
            <a:pPr lvl="1"/>
            <a:r>
              <a:rPr lang="en-US" b="1" dirty="0"/>
              <a:t>Otsu’s Thresholding</a:t>
            </a:r>
            <a:r>
              <a:rPr lang="en-US" dirty="0"/>
              <a:t>: Converts soft masks into clean binary outputs.</a:t>
            </a:r>
          </a:p>
          <a:p>
            <a:pPr lvl="1"/>
            <a:r>
              <a:rPr lang="en-US" b="1" dirty="0"/>
              <a:t>Conditional Random Fields (CRF)</a:t>
            </a:r>
            <a:r>
              <a:rPr lang="en-US" dirty="0"/>
              <a:t>: Improves boundary sharpness and spatial consistency.</a:t>
            </a:r>
          </a:p>
          <a:p>
            <a:endParaRPr lang="en-IN" dirty="0"/>
          </a:p>
        </p:txBody>
      </p:sp>
    </p:spTree>
    <p:extLst>
      <p:ext uri="{BB962C8B-B14F-4D97-AF65-F5344CB8AC3E}">
        <p14:creationId xmlns:p14="http://schemas.microsoft.com/office/powerpoint/2010/main" val="1491255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Dataset Preparation</a:t>
            </a:r>
          </a:p>
        </p:txBody>
      </p:sp>
      <p:sp>
        <p:nvSpPr>
          <p:cNvPr id="3" name="Content Placeholder 2"/>
          <p:cNvSpPr>
            <a:spLocks noGrp="1"/>
          </p:cNvSpPr>
          <p:nvPr>
            <p:ph idx="1"/>
          </p:nvPr>
        </p:nvSpPr>
        <p:spPr/>
        <p:txBody>
          <a:bodyPr/>
          <a:lstStyle/>
          <a:p>
            <a:r>
              <a:rPr dirty="0"/>
              <a:t>- Dataset: </a:t>
            </a:r>
            <a:r>
              <a:rPr dirty="0" err="1"/>
              <a:t>AIcrowd</a:t>
            </a:r>
            <a:r>
              <a:rPr dirty="0"/>
              <a:t> LNDST Challenge</a:t>
            </a:r>
          </a:p>
          <a:p>
            <a:r>
              <a:rPr dirty="0"/>
              <a:t>- 1399 RGB satellite images (400×400)</a:t>
            </a:r>
          </a:p>
          <a:p>
            <a:r>
              <a:rPr dirty="0"/>
              <a:t>- Augmented to 11,192 images</a:t>
            </a:r>
          </a:p>
          <a:p>
            <a:r>
              <a:rPr dirty="0"/>
              <a:t>- Bootstrapped subsets for independent model training.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 Results of the Stacked Ensemble</a:t>
            </a:r>
          </a:p>
        </p:txBody>
      </p:sp>
      <p:sp>
        <p:nvSpPr>
          <p:cNvPr id="3" name="Content Placeholder 2"/>
          <p:cNvSpPr>
            <a:spLocks noGrp="1"/>
          </p:cNvSpPr>
          <p:nvPr>
            <p:ph idx="1"/>
          </p:nvPr>
        </p:nvSpPr>
        <p:spPr/>
        <p:txBody>
          <a:bodyPr/>
          <a:lstStyle/>
          <a:p>
            <a:r>
              <a:rPr b="1" dirty="0"/>
              <a:t>Best F1 Scores:</a:t>
            </a:r>
          </a:p>
          <a:p>
            <a:pPr lvl="1"/>
            <a:r>
              <a:rPr dirty="0"/>
              <a:t> BCDU-Net: 96.0%</a:t>
            </a:r>
          </a:p>
          <a:p>
            <a:pPr lvl="1"/>
            <a:r>
              <a:rPr dirty="0"/>
              <a:t>U-Net: 95.48%</a:t>
            </a:r>
          </a:p>
          <a:p>
            <a:pPr lvl="1"/>
            <a:r>
              <a:rPr dirty="0" err="1"/>
              <a:t>DeepWaterMap</a:t>
            </a:r>
            <a:r>
              <a:rPr dirty="0"/>
              <a:t>: 92.74%</a:t>
            </a:r>
          </a:p>
          <a:p>
            <a:pPr lvl="1"/>
            <a:r>
              <a:rPr dirty="0"/>
              <a:t>Ensemble + Otsu: 97.10% (Highest)</a:t>
            </a:r>
          </a:p>
          <a:p>
            <a:pPr lvl="1"/>
            <a:r>
              <a:rPr dirty="0"/>
              <a:t>Improved small-area water detection and clarity.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 Conclusion and Future Scope</a:t>
            </a:r>
          </a:p>
        </p:txBody>
      </p:sp>
      <p:sp>
        <p:nvSpPr>
          <p:cNvPr id="3" name="Content Placeholder 2"/>
          <p:cNvSpPr>
            <a:spLocks noGrp="1"/>
          </p:cNvSpPr>
          <p:nvPr>
            <p:ph idx="1"/>
          </p:nvPr>
        </p:nvSpPr>
        <p:spPr/>
        <p:txBody>
          <a:bodyPr/>
          <a:lstStyle/>
          <a:p>
            <a:r>
              <a:rPr dirty="0"/>
              <a:t>-Ensemble improves accuracy and robustness of surface water detection.</a:t>
            </a:r>
          </a:p>
          <a:p>
            <a:r>
              <a:rPr dirty="0"/>
              <a:t>Post-processing enhances mask quality.</a:t>
            </a:r>
            <a:endParaRPr lang="en-IN" dirty="0"/>
          </a:p>
          <a:p>
            <a:pPr marL="0" indent="0">
              <a:buNone/>
            </a:pPr>
            <a:endParaRPr dirty="0"/>
          </a:p>
          <a:p>
            <a:r>
              <a:rPr b="1" dirty="0"/>
              <a:t>Future:</a:t>
            </a:r>
          </a:p>
          <a:p>
            <a:pPr lvl="2">
              <a:buFont typeface="Wingdings" panose="05000000000000000000" pitchFamily="2" charset="2"/>
              <a:buChar char="§"/>
            </a:pPr>
            <a:r>
              <a:rPr dirty="0"/>
              <a:t>Add spectral bands (e.g., NIR)</a:t>
            </a:r>
          </a:p>
          <a:p>
            <a:pPr lvl="2">
              <a:buFont typeface="Wingdings" panose="05000000000000000000" pitchFamily="2" charset="2"/>
              <a:buChar char="§"/>
            </a:pPr>
            <a:r>
              <a:rPr dirty="0"/>
              <a:t>Real-time deployment</a:t>
            </a:r>
          </a:p>
          <a:p>
            <a:pPr lvl="2">
              <a:buFont typeface="Wingdings" panose="05000000000000000000" pitchFamily="2" charset="2"/>
              <a:buChar char="§"/>
            </a:pPr>
            <a:r>
              <a:rPr dirty="0"/>
              <a:t>Seasonal trend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 References</a:t>
            </a:r>
          </a:p>
        </p:txBody>
      </p:sp>
      <p:sp>
        <p:nvSpPr>
          <p:cNvPr id="3" name="Content Placeholder 2"/>
          <p:cNvSpPr>
            <a:spLocks noGrp="1"/>
          </p:cNvSpPr>
          <p:nvPr>
            <p:ph idx="1"/>
          </p:nvPr>
        </p:nvSpPr>
        <p:spPr/>
        <p:txBody>
          <a:bodyPr/>
          <a:lstStyle/>
          <a:p>
            <a:r>
              <a:rPr dirty="0"/>
              <a:t>- Gao, 1996 – NDWI</a:t>
            </a:r>
          </a:p>
          <a:p>
            <a:r>
              <a:rPr dirty="0"/>
              <a:t>- </a:t>
            </a:r>
            <a:r>
              <a:rPr dirty="0" err="1"/>
              <a:t>Ronneberger</a:t>
            </a:r>
            <a:r>
              <a:rPr dirty="0"/>
              <a:t> et al., 2015 – U-Net</a:t>
            </a:r>
          </a:p>
          <a:p>
            <a:r>
              <a:rPr dirty="0"/>
              <a:t>- Isikdogan et al., 2017 – </a:t>
            </a:r>
            <a:r>
              <a:rPr dirty="0" err="1"/>
              <a:t>DeepWaterMap</a:t>
            </a:r>
            <a:endParaRPr dirty="0"/>
          </a:p>
          <a:p>
            <a:r>
              <a:rPr dirty="0"/>
              <a:t>- Azad et al., 2019 – BCDU-Net</a:t>
            </a:r>
          </a:p>
          <a:p>
            <a:r>
              <a:rPr dirty="0"/>
              <a:t>- </a:t>
            </a:r>
            <a:r>
              <a:rPr dirty="0" err="1"/>
              <a:t>AIcrowd</a:t>
            </a:r>
            <a:r>
              <a:rPr dirty="0"/>
              <a:t> LNDST Dataset (2020)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t>MLHI-Net: A Multi-Level Hybrid Lightweight Water Body Segmentation Network</a:t>
            </a:r>
            <a:br>
              <a:rPr lang="en-US" sz="2800" dirty="0"/>
            </a:br>
            <a:br>
              <a:rPr lang="en-US" sz="2800" dirty="0"/>
            </a:br>
            <a:r>
              <a:rPr lang="en-US" sz="2800" b="1" dirty="0"/>
              <a:t>Introduction</a:t>
            </a:r>
            <a:endParaRPr sz="2800" b="1" dirty="0"/>
          </a:p>
        </p:txBody>
      </p:sp>
      <p:sp>
        <p:nvSpPr>
          <p:cNvPr id="3" name="Content Placeholder 2"/>
          <p:cNvSpPr>
            <a:spLocks noGrp="1"/>
          </p:cNvSpPr>
          <p:nvPr>
            <p:ph idx="1"/>
          </p:nvPr>
        </p:nvSpPr>
        <p:spPr/>
        <p:txBody>
          <a:bodyPr>
            <a:normAutofit fontScale="70000" lnSpcReduction="20000"/>
          </a:bodyPr>
          <a:lstStyle/>
          <a:p>
            <a:pPr marL="0" indent="0" algn="just">
              <a:buNone/>
            </a:pPr>
            <a:r>
              <a:rPr dirty="0"/>
              <a:t>• Autonomous surface vehicles (USVs) require accurate water–land segmentation for safe navigation.</a:t>
            </a:r>
          </a:p>
          <a:p>
            <a:pPr marL="0" indent="0" algn="just">
              <a:buNone/>
            </a:pPr>
            <a:endParaRPr lang="en-IN" dirty="0"/>
          </a:p>
          <a:p>
            <a:pPr marL="0" indent="0" algn="just">
              <a:buNone/>
            </a:pPr>
            <a:r>
              <a:rPr lang="en-IN" dirty="0"/>
              <a:t>• </a:t>
            </a:r>
            <a:r>
              <a:rPr dirty="0"/>
              <a:t>Real-world challenges like reflections, ripples, fog, and shadows create ambiguous boundaries.</a:t>
            </a:r>
          </a:p>
          <a:p>
            <a:pPr marL="0" indent="0" algn="just">
              <a:buNone/>
            </a:pPr>
            <a:endParaRPr lang="en-IN" dirty="0"/>
          </a:p>
          <a:p>
            <a:pPr marL="0" indent="0" algn="just">
              <a:buNone/>
            </a:pPr>
            <a:r>
              <a:rPr dirty="0"/>
              <a:t>• Traditional image processing and heavy deep learning models are not suitable for real-time deployment.</a:t>
            </a:r>
          </a:p>
          <a:p>
            <a:pPr marL="0" indent="0" algn="just">
              <a:buNone/>
            </a:pPr>
            <a:endParaRPr lang="en-IN" dirty="0"/>
          </a:p>
          <a:p>
            <a:pPr marL="0" indent="0" algn="just">
              <a:buNone/>
            </a:pPr>
            <a:r>
              <a:rPr dirty="0"/>
              <a:t>• MLHI-Net is proposed as a hybrid lightweight neural network designed for high-precision segmentation.</a:t>
            </a:r>
          </a:p>
          <a:p>
            <a:pPr marL="0" indent="0" algn="just">
              <a:buNone/>
            </a:pPr>
            <a:endParaRPr lang="en-IN" dirty="0"/>
          </a:p>
          <a:p>
            <a:pPr marL="0" indent="0" algn="just">
              <a:buNone/>
            </a:pPr>
            <a:r>
              <a:rPr dirty="0"/>
              <a:t>• The model balances accuracy and speed, making it ideal for embedded USV systems in complex environments.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Review</a:t>
            </a:r>
          </a:p>
        </p:txBody>
      </p:sp>
      <p:sp>
        <p:nvSpPr>
          <p:cNvPr id="3" name="Content Placeholder 2"/>
          <p:cNvSpPr>
            <a:spLocks noGrp="1"/>
          </p:cNvSpPr>
          <p:nvPr>
            <p:ph idx="1"/>
          </p:nvPr>
        </p:nvSpPr>
        <p:spPr/>
        <p:txBody>
          <a:bodyPr>
            <a:normAutofit fontScale="70000" lnSpcReduction="20000"/>
          </a:bodyPr>
          <a:lstStyle/>
          <a:p>
            <a:pPr marL="0" indent="0">
              <a:buNone/>
            </a:pPr>
            <a:endParaRPr lang="en-US" b="1" dirty="0"/>
          </a:p>
          <a:p>
            <a:r>
              <a:rPr lang="en-US" b="1" dirty="0"/>
              <a:t>Traditional Approaches (Pre-Deep Learning):</a:t>
            </a:r>
            <a:br>
              <a:rPr lang="en-US" dirty="0"/>
            </a:br>
            <a:r>
              <a:rPr lang="en-US" dirty="0"/>
              <a:t>											Methods based on </a:t>
            </a:r>
            <a:r>
              <a:rPr lang="en-US" b="1" dirty="0"/>
              <a:t>color thresholding</a:t>
            </a:r>
            <a:r>
              <a:rPr lang="en-US" dirty="0"/>
              <a:t>, </a:t>
            </a:r>
            <a:r>
              <a:rPr lang="en-US" b="1" dirty="0"/>
              <a:t>texture analysis</a:t>
            </a:r>
            <a:r>
              <a:rPr lang="en-US" dirty="0"/>
              <a:t>, and </a:t>
            </a:r>
            <a:r>
              <a:rPr lang="en-US" b="1" dirty="0"/>
              <a:t>edge detection</a:t>
            </a:r>
            <a:r>
              <a:rPr lang="en-US" dirty="0"/>
              <a:t> (e.g., Canny, Sobel) were among the first to attempt shoreline segmentation.</a:t>
            </a:r>
            <a:br>
              <a:rPr lang="en-US" dirty="0"/>
            </a:br>
            <a:endParaRPr lang="en-US" dirty="0"/>
          </a:p>
          <a:p>
            <a:r>
              <a:rPr lang="en-US" dirty="0"/>
              <a:t>However, they suffer from low adaptability to </a:t>
            </a:r>
            <a:r>
              <a:rPr lang="en-US" b="1" dirty="0"/>
              <a:t>environmental variations</a:t>
            </a:r>
            <a:r>
              <a:rPr lang="en-US" dirty="0"/>
              <a:t> like reflections, moving water surfaces, and seasonal vegetation changes.</a:t>
            </a:r>
          </a:p>
          <a:p>
            <a:endParaRPr lang="en-US" b="1" dirty="0"/>
          </a:p>
          <a:p>
            <a:r>
              <a:rPr lang="en-US" b="1" dirty="0"/>
              <a:t>Classical Machine Learning Methods:</a:t>
            </a:r>
            <a:br>
              <a:rPr lang="en-US" dirty="0"/>
            </a:br>
            <a:r>
              <a:rPr lang="en-US" dirty="0"/>
              <a:t>Techniques using </a:t>
            </a:r>
            <a:r>
              <a:rPr lang="en-US" b="1" dirty="0"/>
              <a:t>SVMs</a:t>
            </a:r>
            <a:r>
              <a:rPr lang="en-US" dirty="0"/>
              <a:t>, </a:t>
            </a:r>
            <a:r>
              <a:rPr lang="en-US" b="1" dirty="0"/>
              <a:t>random forests</a:t>
            </a:r>
            <a:r>
              <a:rPr lang="en-US" dirty="0"/>
              <a:t>, and handcrafted features achieved limited success on curated datasets.</a:t>
            </a:r>
            <a:br>
              <a:rPr lang="en-US" dirty="0"/>
            </a:br>
            <a:r>
              <a:rPr lang="en-US" dirty="0"/>
              <a:t>Their reliance on </a:t>
            </a:r>
            <a:r>
              <a:rPr lang="en-US" b="1" dirty="0"/>
              <a:t>domain-specific tuning</a:t>
            </a:r>
            <a:r>
              <a:rPr lang="en-US" dirty="0"/>
              <a:t> limits real-world applicability.</a:t>
            </a:r>
          </a:p>
          <a:p>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372D69-B585-04A1-8D83-B41986109279}"/>
              </a:ext>
            </a:extLst>
          </p:cNvPr>
          <p:cNvSpPr>
            <a:spLocks noGrp="1"/>
          </p:cNvSpPr>
          <p:nvPr>
            <p:ph idx="1"/>
          </p:nvPr>
        </p:nvSpPr>
        <p:spPr>
          <a:xfrm>
            <a:off x="457200" y="0"/>
            <a:ext cx="8229600" cy="6126163"/>
          </a:xfrm>
        </p:spPr>
        <p:txBody>
          <a:bodyPr>
            <a:normAutofit fontScale="77500" lnSpcReduction="20000"/>
          </a:bodyPr>
          <a:lstStyle/>
          <a:p>
            <a:r>
              <a:rPr lang="en-US" b="1" dirty="0"/>
              <a:t>Deep Learning Evolution:</a:t>
            </a:r>
            <a:endParaRPr lang="en-US" dirty="0"/>
          </a:p>
          <a:p>
            <a:pPr lvl="1"/>
            <a:r>
              <a:rPr lang="en-US" b="1" dirty="0" err="1"/>
              <a:t>UNet</a:t>
            </a:r>
            <a:r>
              <a:rPr lang="en-US" dirty="0"/>
              <a:t>, </a:t>
            </a:r>
            <a:r>
              <a:rPr lang="en-US" b="1" dirty="0"/>
              <a:t>DeepLabv3+</a:t>
            </a:r>
            <a:r>
              <a:rPr lang="en-US" dirty="0"/>
              <a:t>, and </a:t>
            </a:r>
            <a:r>
              <a:rPr lang="en-US" b="1" dirty="0" err="1"/>
              <a:t>PSPNet</a:t>
            </a:r>
            <a:r>
              <a:rPr lang="en-US" dirty="0"/>
              <a:t> improved segmentation performance using </a:t>
            </a:r>
            <a:r>
              <a:rPr lang="en-US" b="1" dirty="0"/>
              <a:t>encoder-decoder</a:t>
            </a:r>
            <a:r>
              <a:rPr lang="en-US" dirty="0"/>
              <a:t> and </a:t>
            </a:r>
            <a:r>
              <a:rPr lang="en-US" b="1" dirty="0"/>
              <a:t>multi-scale context</a:t>
            </a:r>
            <a:r>
              <a:rPr lang="en-US" dirty="0"/>
              <a:t> mechanisms.</a:t>
            </a:r>
          </a:p>
          <a:p>
            <a:pPr lvl="1"/>
            <a:r>
              <a:rPr lang="en-US" dirty="0"/>
              <a:t>However, these models are </a:t>
            </a:r>
            <a:r>
              <a:rPr lang="en-US" b="1" dirty="0"/>
              <a:t>parameter-heavy</a:t>
            </a:r>
            <a:r>
              <a:rPr lang="en-US" dirty="0"/>
              <a:t> (often &gt;40M) and unsuitable for edge devices like USVs.</a:t>
            </a:r>
          </a:p>
          <a:p>
            <a:endParaRPr lang="en-US" b="1" dirty="0"/>
          </a:p>
          <a:p>
            <a:r>
              <a:rPr lang="en-US" b="1" dirty="0"/>
              <a:t>Attention Mechanisms &amp; Lightweight Models:</a:t>
            </a:r>
            <a:endParaRPr lang="en-US" dirty="0"/>
          </a:p>
          <a:p>
            <a:pPr lvl="1"/>
            <a:r>
              <a:rPr lang="en-US" dirty="0"/>
              <a:t>Attention-enhanced models like </a:t>
            </a:r>
            <a:r>
              <a:rPr lang="en-US" b="1" dirty="0"/>
              <a:t>SE-</a:t>
            </a:r>
            <a:r>
              <a:rPr lang="en-US" b="1" dirty="0" err="1"/>
              <a:t>UNet</a:t>
            </a:r>
            <a:r>
              <a:rPr lang="en-US" dirty="0"/>
              <a:t> and </a:t>
            </a:r>
            <a:r>
              <a:rPr lang="en-US" b="1" dirty="0"/>
              <a:t>CBAM</a:t>
            </a:r>
            <a:r>
              <a:rPr lang="en-US" dirty="0"/>
              <a:t> help emphasize boundary features but lack generalizability in cluttered aquatic scenes.</a:t>
            </a:r>
          </a:p>
          <a:p>
            <a:pPr lvl="1"/>
            <a:r>
              <a:rPr lang="en-US" b="1" dirty="0"/>
              <a:t>Transformer-based</a:t>
            </a:r>
            <a:r>
              <a:rPr lang="en-US" dirty="0"/>
              <a:t> architectures (e.g., </a:t>
            </a:r>
            <a:r>
              <a:rPr lang="en-US" b="1" dirty="0" err="1"/>
              <a:t>WaterFormer</a:t>
            </a:r>
            <a:r>
              <a:rPr lang="en-US" dirty="0"/>
              <a:t>, </a:t>
            </a:r>
            <a:r>
              <a:rPr lang="en-US" b="1" dirty="0"/>
              <a:t>STIR-</a:t>
            </a:r>
            <a:r>
              <a:rPr lang="en-US" b="1" dirty="0" err="1"/>
              <a:t>UNet</a:t>
            </a:r>
            <a:r>
              <a:rPr lang="en-US" dirty="0"/>
              <a:t>) capture global dependencies well but are computationally expensive.</a:t>
            </a:r>
          </a:p>
          <a:p>
            <a:r>
              <a:rPr lang="en-US" b="1" dirty="0"/>
              <a:t>Identified Gap:</a:t>
            </a:r>
            <a:br>
              <a:rPr lang="en-US" dirty="0"/>
            </a:br>
            <a:r>
              <a:rPr lang="en-US" dirty="0"/>
              <a:t>No existing model sufficiently balances </a:t>
            </a:r>
            <a:r>
              <a:rPr lang="en-US" b="1" dirty="0"/>
              <a:t>edge precision, model compactness, and real-time inference</a:t>
            </a:r>
            <a:r>
              <a:rPr lang="en-US" dirty="0"/>
              <a:t> for water–land segmentation in diverse inland water scenarios.</a:t>
            </a:r>
          </a:p>
          <a:p>
            <a:endParaRPr lang="en-IN" dirty="0"/>
          </a:p>
        </p:txBody>
      </p:sp>
    </p:spTree>
    <p:extLst>
      <p:ext uri="{BB962C8B-B14F-4D97-AF65-F5344CB8AC3E}">
        <p14:creationId xmlns:p14="http://schemas.microsoft.com/office/powerpoint/2010/main" val="1826986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State of The Art</a:t>
            </a:r>
          </a:p>
        </p:txBody>
      </p:sp>
      <p:sp>
        <p:nvSpPr>
          <p:cNvPr id="3" name="Content Placeholder 2"/>
          <p:cNvSpPr>
            <a:spLocks noGrp="1"/>
          </p:cNvSpPr>
          <p:nvPr>
            <p:ph idx="1"/>
          </p:nvPr>
        </p:nvSpPr>
        <p:spPr/>
        <p:txBody>
          <a:bodyPr>
            <a:normAutofit fontScale="70000" lnSpcReduction="20000"/>
          </a:bodyPr>
          <a:lstStyle/>
          <a:p>
            <a:r>
              <a:rPr lang="en-US" dirty="0"/>
              <a:t>The </a:t>
            </a:r>
            <a:r>
              <a:rPr lang="en-US" b="1" dirty="0"/>
              <a:t>best deep learning models</a:t>
            </a:r>
            <a:r>
              <a:rPr lang="en-US" dirty="0"/>
              <a:t> previously used for water–land segmentation:</a:t>
            </a:r>
          </a:p>
          <a:p>
            <a:pPr lvl="1"/>
            <a:r>
              <a:rPr lang="en-US" b="1" dirty="0"/>
              <a:t>RS-</a:t>
            </a:r>
            <a:r>
              <a:rPr lang="en-US" b="1" dirty="0" err="1"/>
              <a:t>UNet</a:t>
            </a:r>
            <a:r>
              <a:rPr lang="en-US" dirty="0"/>
              <a:t>, </a:t>
            </a:r>
            <a:r>
              <a:rPr lang="en-US" b="1" dirty="0" err="1"/>
              <a:t>WaterFormer</a:t>
            </a:r>
            <a:r>
              <a:rPr lang="en-US" dirty="0"/>
              <a:t>, </a:t>
            </a:r>
            <a:r>
              <a:rPr lang="en-US" b="1" dirty="0"/>
              <a:t>STIR-</a:t>
            </a:r>
            <a:r>
              <a:rPr lang="en-US" b="1" dirty="0" err="1"/>
              <a:t>UNet</a:t>
            </a:r>
            <a:r>
              <a:rPr lang="en-US" dirty="0"/>
              <a:t>, </a:t>
            </a:r>
            <a:r>
              <a:rPr lang="en-US" b="1" dirty="0"/>
              <a:t>HED-</a:t>
            </a:r>
            <a:r>
              <a:rPr lang="en-US" b="1" dirty="0" err="1"/>
              <a:t>UNet</a:t>
            </a:r>
            <a:endParaRPr lang="en-US" dirty="0"/>
          </a:p>
          <a:p>
            <a:endParaRPr lang="en-US" b="1" dirty="0"/>
          </a:p>
          <a:p>
            <a:r>
              <a:rPr lang="en-US" b="1" dirty="0"/>
              <a:t>What they get right:</a:t>
            </a:r>
            <a:endParaRPr lang="en-US" dirty="0"/>
          </a:p>
          <a:p>
            <a:pPr lvl="1"/>
            <a:r>
              <a:rPr lang="en-US" dirty="0"/>
              <a:t>Some handle </a:t>
            </a:r>
            <a:r>
              <a:rPr lang="en-US" b="1" dirty="0"/>
              <a:t>global context</a:t>
            </a:r>
            <a:r>
              <a:rPr lang="en-US" dirty="0"/>
              <a:t> well (like </a:t>
            </a:r>
            <a:r>
              <a:rPr lang="en-US" dirty="0" err="1"/>
              <a:t>WaterFormer</a:t>
            </a:r>
            <a:r>
              <a:rPr lang="en-US" dirty="0"/>
              <a:t> using transformers).</a:t>
            </a:r>
          </a:p>
          <a:p>
            <a:pPr lvl="1"/>
            <a:r>
              <a:rPr lang="en-US" dirty="0"/>
              <a:t>Others enhance </a:t>
            </a:r>
            <a:r>
              <a:rPr lang="en-US" b="1" dirty="0"/>
              <a:t>edge detection</a:t>
            </a:r>
            <a:r>
              <a:rPr lang="en-US" dirty="0"/>
              <a:t> or </a:t>
            </a:r>
            <a:r>
              <a:rPr lang="en-US" b="1" dirty="0"/>
              <a:t>feature fusion</a:t>
            </a:r>
            <a:r>
              <a:rPr lang="en-US" dirty="0"/>
              <a:t>.</a:t>
            </a:r>
          </a:p>
          <a:p>
            <a:endParaRPr lang="en-US" b="1" dirty="0"/>
          </a:p>
          <a:p>
            <a:r>
              <a:rPr lang="en-US" b="1" dirty="0"/>
              <a:t>But also, where they fall short:</a:t>
            </a:r>
            <a:endParaRPr lang="en-US" dirty="0"/>
          </a:p>
          <a:p>
            <a:pPr lvl="1"/>
            <a:r>
              <a:rPr lang="en-US" dirty="0"/>
              <a:t>Many are </a:t>
            </a:r>
            <a:r>
              <a:rPr lang="en-US" b="1" dirty="0"/>
              <a:t>too computationally heavy</a:t>
            </a:r>
            <a:r>
              <a:rPr lang="en-US" dirty="0"/>
              <a:t> for real-time edge deployment.</a:t>
            </a:r>
          </a:p>
          <a:p>
            <a:pPr lvl="1"/>
            <a:r>
              <a:rPr lang="en-US" dirty="0"/>
              <a:t>Some models </a:t>
            </a:r>
            <a:r>
              <a:rPr lang="en-US" b="1" dirty="0"/>
              <a:t>fail to segment fine shoreline details</a:t>
            </a:r>
            <a:r>
              <a:rPr lang="en-US" dirty="0"/>
              <a:t> due to poor attention to boundaries.</a:t>
            </a:r>
          </a:p>
          <a:p>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normAutofit/>
          </a:bodyPr>
          <a:lstStyle/>
          <a:p>
            <a:pPr marL="0" indent="0">
              <a:buNone/>
            </a:pPr>
            <a:r>
              <a:rPr lang="en-US" sz="2400" dirty="0"/>
              <a:t>Existing segmentation models struggle to accurately differentiate between water and land in challenging conditions like reflections, ripples, and fog.</a:t>
            </a:r>
            <a:br>
              <a:rPr lang="en-US" sz="2400" dirty="0"/>
            </a:br>
            <a:r>
              <a:rPr lang="en-US" sz="2400" dirty="0"/>
              <a:t>Their high computational demands make them unsuitable for real-time deployment on USVs.</a:t>
            </a:r>
            <a:br>
              <a:rPr lang="en-US" sz="2400" dirty="0"/>
            </a:br>
            <a:r>
              <a:rPr lang="en-US" sz="2400" dirty="0"/>
              <a:t>There is a need for a lightweight, accurate model that performs well across diverse environmental scenarios.</a:t>
            </a:r>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Objective</a:t>
            </a:r>
          </a:p>
        </p:txBody>
      </p:sp>
      <p:sp>
        <p:nvSpPr>
          <p:cNvPr id="3" name="Content Placeholder 2"/>
          <p:cNvSpPr>
            <a:spLocks noGrp="1"/>
          </p:cNvSpPr>
          <p:nvPr>
            <p:ph idx="1"/>
          </p:nvPr>
        </p:nvSpPr>
        <p:spPr/>
        <p:txBody>
          <a:bodyPr>
            <a:noAutofit/>
          </a:bodyPr>
          <a:lstStyle/>
          <a:p>
            <a:pPr defTabSz="914400" eaLnBrk="0" fontAlgn="base" hangingPunct="0">
              <a:spcBef>
                <a:spcPct val="0"/>
              </a:spcBef>
              <a:spcAft>
                <a:spcPct val="0"/>
              </a:spcAft>
            </a:pPr>
            <a:r>
              <a:rPr lang="en-US" altLang="en-US" sz="2400" dirty="0">
                <a:latin typeface="Arial" panose="020B0604020202020204" pitchFamily="34" charset="0"/>
              </a:rPr>
              <a:t>The objective of this research is to develop </a:t>
            </a:r>
            <a:r>
              <a:rPr lang="en-US" altLang="en-US" sz="2400" b="1" dirty="0">
                <a:latin typeface="Arial" panose="020B0604020202020204" pitchFamily="34" charset="0"/>
              </a:rPr>
              <a:t>MLHI-Net</a:t>
            </a:r>
            <a:r>
              <a:rPr lang="en-US" altLang="en-US" sz="2400" dirty="0">
                <a:latin typeface="Arial" panose="020B0604020202020204" pitchFamily="34" charset="0"/>
              </a:rPr>
              <a:t>, a lightweight deep learning model for accurate water–land segmentation.</a:t>
            </a:r>
            <a:br>
              <a:rPr lang="en-US" altLang="en-US" sz="2400" dirty="0">
                <a:latin typeface="Arial" panose="020B0604020202020204" pitchFamily="34" charset="0"/>
              </a:rPr>
            </a:br>
            <a:endParaRPr lang="en-US" altLang="en-US" sz="2400" dirty="0">
              <a:latin typeface="Arial" panose="020B0604020202020204" pitchFamily="34" charset="0"/>
            </a:endParaRPr>
          </a:p>
          <a:p>
            <a:pPr defTabSz="914400" eaLnBrk="0" fontAlgn="base" hangingPunct="0">
              <a:spcBef>
                <a:spcPct val="0"/>
              </a:spcBef>
              <a:spcAft>
                <a:spcPct val="0"/>
              </a:spcAft>
            </a:pPr>
            <a:r>
              <a:rPr lang="en-US" altLang="en-US" sz="2400" dirty="0">
                <a:latin typeface="Arial" panose="020B0604020202020204" pitchFamily="34" charset="0"/>
              </a:rPr>
              <a:t>It aims to achieve </a:t>
            </a:r>
            <a:r>
              <a:rPr lang="en-US" altLang="en-US" sz="2400" b="1" dirty="0">
                <a:latin typeface="Arial" panose="020B0604020202020204" pitchFamily="34" charset="0"/>
              </a:rPr>
              <a:t>high precision (MIoU &gt; 97%)</a:t>
            </a:r>
            <a:r>
              <a:rPr lang="en-US" altLang="en-US" sz="2400" dirty="0">
                <a:latin typeface="Arial" panose="020B0604020202020204" pitchFamily="34" charset="0"/>
              </a:rPr>
              <a:t> while maintaining </a:t>
            </a:r>
            <a:r>
              <a:rPr lang="en-US" altLang="en-US" sz="2400" b="1" dirty="0">
                <a:latin typeface="Arial" panose="020B0604020202020204" pitchFamily="34" charset="0"/>
              </a:rPr>
              <a:t>real-time performance</a:t>
            </a:r>
            <a:r>
              <a:rPr lang="en-US" altLang="en-US" sz="2400" dirty="0">
                <a:latin typeface="Arial" panose="020B0604020202020204" pitchFamily="34" charset="0"/>
              </a:rPr>
              <a:t> on low-power USV</a:t>
            </a:r>
          </a:p>
          <a:p>
            <a:pPr defTabSz="914400" eaLnBrk="0" fontAlgn="base" hangingPunct="0">
              <a:spcBef>
                <a:spcPct val="0"/>
              </a:spcBef>
              <a:spcAft>
                <a:spcPct val="0"/>
              </a:spcAft>
            </a:pPr>
            <a:endParaRPr lang="en-US" altLang="en-US" sz="2400" dirty="0">
              <a:latin typeface="Arial" panose="020B0604020202020204" pitchFamily="34" charset="0"/>
            </a:endParaRPr>
          </a:p>
          <a:p>
            <a:pPr defTabSz="914400" eaLnBrk="0" fontAlgn="base" hangingPunct="0">
              <a:spcBef>
                <a:spcPct val="0"/>
              </a:spcBef>
              <a:spcAft>
                <a:spcPct val="0"/>
              </a:spcAft>
            </a:pPr>
            <a:r>
              <a:rPr lang="en-US" altLang="en-US" sz="2400" dirty="0">
                <a:latin typeface="Arial" panose="020B0604020202020204" pitchFamily="34" charset="0"/>
              </a:rPr>
              <a:t> The model introduces two novel modules</a:t>
            </a:r>
          </a:p>
          <a:p>
            <a:pPr lvl="2" defTabSz="914400" eaLnBrk="0" fontAlgn="base" hangingPunct="0">
              <a:spcBef>
                <a:spcPct val="0"/>
              </a:spcBef>
              <a:spcAft>
                <a:spcPct val="0"/>
              </a:spcAft>
            </a:pPr>
            <a:r>
              <a:rPr lang="en-US" altLang="en-US" b="1" dirty="0">
                <a:latin typeface="Arial" panose="020B0604020202020204" pitchFamily="34" charset="0"/>
              </a:rPr>
              <a:t>ORRD</a:t>
            </a:r>
            <a:r>
              <a:rPr lang="en-US" altLang="en-US" dirty="0">
                <a:latin typeface="Arial" panose="020B0604020202020204" pitchFamily="34" charset="0"/>
              </a:rPr>
              <a:t> for efficient feature extraction </a:t>
            </a:r>
          </a:p>
          <a:p>
            <a:pPr lvl="2" defTabSz="914400" eaLnBrk="0" fontAlgn="base" hangingPunct="0">
              <a:spcBef>
                <a:spcPct val="0"/>
              </a:spcBef>
              <a:spcAft>
                <a:spcPct val="0"/>
              </a:spcAft>
            </a:pPr>
            <a:r>
              <a:rPr lang="en-US" altLang="en-US" b="1" dirty="0">
                <a:latin typeface="Arial" panose="020B0604020202020204" pitchFamily="34" charset="0"/>
              </a:rPr>
              <a:t>MDA</a:t>
            </a:r>
            <a:r>
              <a:rPr lang="en-US" altLang="en-US" dirty="0">
                <a:latin typeface="Arial" panose="020B0604020202020204" pitchFamily="34" charset="0"/>
              </a:rPr>
              <a:t> for enhanced attention-based fusion.</a:t>
            </a:r>
            <a:endParaRPr lang="en-IN" sz="2400" dirty="0"/>
          </a:p>
          <a:p>
            <a:r>
              <a:rPr sz="2400" dirty="0"/>
              <a:t>ORRD: Redundancy removal</a:t>
            </a:r>
          </a:p>
          <a:p>
            <a:r>
              <a:rPr sz="2400" dirty="0"/>
              <a:t>   MDA: Multi-branch attention</a:t>
            </a:r>
            <a:endParaRPr lang="en-IN"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Preparation of Dataset</a:t>
            </a:r>
          </a:p>
        </p:txBody>
      </p:sp>
      <p:sp>
        <p:nvSpPr>
          <p:cNvPr id="3" name="Content Placeholder 2"/>
          <p:cNvSpPr>
            <a:spLocks noGrp="1"/>
          </p:cNvSpPr>
          <p:nvPr>
            <p:ph idx="1"/>
          </p:nvPr>
        </p:nvSpPr>
        <p:spPr/>
        <p:txBody>
          <a:bodyPr/>
          <a:lstStyle/>
          <a:p>
            <a:pPr marL="0" indent="0">
              <a:buNone/>
            </a:pPr>
            <a:r>
              <a:rPr dirty="0"/>
              <a:t>• </a:t>
            </a:r>
            <a:r>
              <a:rPr dirty="0" err="1"/>
              <a:t>CityWater</a:t>
            </a:r>
            <a:r>
              <a:rPr dirty="0"/>
              <a:t> dataset:</a:t>
            </a:r>
          </a:p>
          <a:p>
            <a:pPr marL="0" indent="0">
              <a:buNone/>
            </a:pPr>
            <a:r>
              <a:rPr dirty="0"/>
              <a:t>   - 3,215 images from rivers (USV-mounted camera).</a:t>
            </a:r>
          </a:p>
          <a:p>
            <a:pPr marL="0" indent="0">
              <a:buNone/>
            </a:pPr>
            <a:r>
              <a:rPr dirty="0"/>
              <a:t>   - LabelMe annotations at 640×640 resolution.</a:t>
            </a:r>
          </a:p>
          <a:p>
            <a:pPr marL="0" indent="0">
              <a:buNone/>
            </a:pPr>
            <a:r>
              <a:rPr dirty="0"/>
              <a:t>• Conditions: Rain, fog, ripple, reflection, low-light.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Results of Hybrid Approach and Safe Zone</a:t>
            </a:r>
          </a:p>
        </p:txBody>
      </p:sp>
      <p:sp>
        <p:nvSpPr>
          <p:cNvPr id="3" name="Content Placeholder 2"/>
          <p:cNvSpPr>
            <a:spLocks noGrp="1"/>
          </p:cNvSpPr>
          <p:nvPr>
            <p:ph idx="1"/>
          </p:nvPr>
        </p:nvSpPr>
        <p:spPr/>
        <p:txBody>
          <a:bodyPr/>
          <a:lstStyle/>
          <a:p>
            <a:r>
              <a:rPr dirty="0"/>
              <a:t>• ORRD enhances semantic richness.</a:t>
            </a:r>
          </a:p>
          <a:p>
            <a:r>
              <a:rPr dirty="0"/>
              <a:t>• MDA improves boundary clarity.</a:t>
            </a:r>
          </a:p>
          <a:p>
            <a:r>
              <a:rPr dirty="0"/>
              <a:t>• Achievements:</a:t>
            </a:r>
          </a:p>
          <a:p>
            <a:r>
              <a:rPr dirty="0"/>
              <a:t>   - MIoU: 97.86%, PA: 98.92%, FPS: 41.37, Params: 13.44M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Performance Analysis of ANN+FABRIK</a:t>
            </a:r>
          </a:p>
        </p:txBody>
      </p:sp>
      <p:sp>
        <p:nvSpPr>
          <p:cNvPr id="3" name="Content Placeholder 2"/>
          <p:cNvSpPr>
            <a:spLocks noGrp="1"/>
          </p:cNvSpPr>
          <p:nvPr>
            <p:ph idx="1"/>
          </p:nvPr>
        </p:nvSpPr>
        <p:spPr/>
        <p:txBody>
          <a:bodyPr/>
          <a:lstStyle/>
          <a:p>
            <a:r>
              <a:t>• Ablation Study:</a:t>
            </a:r>
          </a:p>
          <a:p>
            <a:r>
              <a:t>   - ORRD: +2.69% MIoU</a:t>
            </a:r>
          </a:p>
          <a:p>
            <a:r>
              <a:t>   - MDA: +2.83%</a:t>
            </a:r>
          </a:p>
          <a:p>
            <a:r>
              <a:t>   - Combined: +3.50%</a:t>
            </a:r>
          </a:p>
          <a:p>
            <a:r>
              <a:t>• High accuracy retained across multiple benchmarks (USVInland, CityWater).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and Future Scope</a:t>
            </a:r>
          </a:p>
        </p:txBody>
      </p:sp>
      <p:sp>
        <p:nvSpPr>
          <p:cNvPr id="3" name="Content Placeholder 2"/>
          <p:cNvSpPr>
            <a:spLocks noGrp="1"/>
          </p:cNvSpPr>
          <p:nvPr>
            <p:ph idx="1"/>
          </p:nvPr>
        </p:nvSpPr>
        <p:spPr/>
        <p:txBody>
          <a:bodyPr/>
          <a:lstStyle/>
          <a:p>
            <a:pPr marL="0" indent="0">
              <a:buNone/>
            </a:pPr>
            <a:r>
              <a:rPr dirty="0"/>
              <a:t>• Conclusion:</a:t>
            </a:r>
          </a:p>
          <a:p>
            <a:pPr marL="0" indent="0">
              <a:buNone/>
            </a:pPr>
            <a:r>
              <a:rPr dirty="0"/>
              <a:t>   - MLHI-Net achieves real-time, high-accuracy segmentation.</a:t>
            </a:r>
          </a:p>
          <a:p>
            <a:pPr marL="0" indent="0">
              <a:buNone/>
            </a:pPr>
            <a:r>
              <a:rPr dirty="0"/>
              <a:t>• Future Work:</a:t>
            </a:r>
          </a:p>
          <a:p>
            <a:pPr marL="0" indent="0">
              <a:buNone/>
            </a:pPr>
            <a:r>
              <a:rPr dirty="0"/>
              <a:t>   - Expand datasets</a:t>
            </a:r>
          </a:p>
          <a:p>
            <a:pPr marL="0" indent="0">
              <a:buNone/>
            </a:pPr>
            <a:r>
              <a:rPr dirty="0"/>
              <a:t>   - Add floating obstacle segmentation</a:t>
            </a:r>
          </a:p>
          <a:p>
            <a:pPr marL="0" indent="0">
              <a:buNone/>
            </a:pPr>
            <a:r>
              <a:rPr dirty="0"/>
              <a:t>   - Domain adaptation and self-supervised learning.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1. Ye et al., Scientific Reports, 2025</a:t>
            </a:r>
          </a:p>
          <a:p>
            <a:r>
              <a:t>2. Cheng et al., IEEE RA-L, 2021</a:t>
            </a:r>
          </a:p>
          <a:p>
            <a:r>
              <a:t>3. Yin et al., Complex Intelligent Systems, 2023</a:t>
            </a:r>
          </a:p>
          <a:p>
            <a:r>
              <a:t>4. Zhao et al., JMSE,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129</TotalTime>
  <Words>1344</Words>
  <Application>Microsoft Office PowerPoint</Application>
  <PresentationFormat>On-screen Show (4:3)</PresentationFormat>
  <Paragraphs>146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Office Theme</vt:lpstr>
      <vt:lpstr>RESEARCH PAPER SUMMARIES</vt:lpstr>
      <vt:lpstr>Surface Water Detection in Remote Sensing Images Using a Deep Stacked Ensemble Model   Introduction</vt:lpstr>
      <vt:lpstr> Literature Review</vt:lpstr>
      <vt:lpstr> State of the Art</vt:lpstr>
      <vt:lpstr> Problem Statement</vt:lpstr>
      <vt:lpstr>Research Objective</vt:lpstr>
      <vt:lpstr>Methodology</vt:lpstr>
      <vt:lpstr>PowerPoint Presentation</vt:lpstr>
      <vt:lpstr>Dataset Preparation</vt:lpstr>
      <vt:lpstr> Results of the Stacked Ensemble</vt:lpstr>
      <vt:lpstr> Conclusion and Future Scope</vt:lpstr>
      <vt:lpstr> References</vt:lpstr>
      <vt:lpstr>MLHI-Net: A Multi-Level Hybrid Lightweight Water Body Segmentation Network  Introduction</vt:lpstr>
      <vt:lpstr>Literature Review</vt:lpstr>
      <vt:lpstr>PowerPoint Presentation</vt:lpstr>
      <vt:lpstr>State of The Art</vt:lpstr>
      <vt:lpstr>Problem Statement</vt:lpstr>
      <vt:lpstr>Research Objective</vt:lpstr>
      <vt:lpstr>Preparation of Dataset</vt:lpstr>
      <vt:lpstr>Results of Hybrid Approach and Safe Zone</vt:lpstr>
      <vt:lpstr>Performance Analysis of ANN+FABRIK</vt:lpstr>
      <vt:lpstr>Conclusion and Future Scope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 NITHVIKA</cp:lastModifiedBy>
  <cp:revision>4</cp:revision>
  <dcterms:created xsi:type="dcterms:W3CDTF">2013-01-27T09:14:16Z</dcterms:created>
  <dcterms:modified xsi:type="dcterms:W3CDTF">2025-06-10T10:58:12Z</dcterms:modified>
  <cp:category/>
</cp:coreProperties>
</file>