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Importance of waterbody detection in monitoring, disaster response, planning</a:t>
            </a:r>
          </a:p>
          <a:p>
            <a:pPr/>
            <a:r>
              <a:t>• Limitations of traditional remote sensing</a:t>
            </a:r>
          </a:p>
          <a:p>
            <a:pPr/>
            <a:r>
              <a:t>• Trend towards AI-based automated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NDWI, MNDWI, AWEI for water delineation</a:t>
            </a:r>
          </a:p>
          <a:p>
            <a:pPr/>
            <a:r>
              <a:t>• Classical ML: SVM, RF, Decision Trees</a:t>
            </a:r>
          </a:p>
          <a:p>
            <a:pPr/>
            <a:r>
              <a:t>• Limitations: hand-crafted features, poor generalization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CNNs, Autoencoders introduced spatial learning</a:t>
            </a:r>
          </a:p>
          <a:p>
            <a:pPr/>
            <a:r>
              <a:t>• DeepWaterMap: lightweight but weak for fragmented bodies</a:t>
            </a:r>
          </a:p>
          <a:p>
            <a:pPr/>
            <a:r>
              <a:t>• Limitations in capturing boundaries and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- 3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Boundary-aware networks: SBANet, MAResU-Net</a:t>
            </a:r>
          </a:p>
          <a:p>
            <a:pPr/>
            <a:r>
              <a:t>• Transfer learning: cross-learning U-Nets</a:t>
            </a:r>
          </a:p>
          <a:p>
            <a:pPr/>
            <a:r>
              <a:t>• Ensembles: combine models for robustness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of the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U-Net and variants</a:t>
            </a:r>
          </a:p>
          <a:p>
            <a:pPr/>
            <a:r>
              <a:t>• Transformer-based models like SegFormer</a:t>
            </a:r>
          </a:p>
          <a:p>
            <a:pPr/>
            <a:r>
              <a:t>• Ad-SegFormer, BCDU-Net, DeepWaterMap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Challenges with detecting small/narrow/urban waterbodies</a:t>
            </a:r>
          </a:p>
          <a:p>
            <a:pPr/>
            <a:r>
              <a:t>• High computation and overfitting in DL models</a:t>
            </a:r>
          </a:p>
          <a:p>
            <a:pPr/>
            <a:r>
              <a:t>• Generalization issues across geographies</a:t>
            </a:r>
          </a:p>
          <a:p>
            <a:pPr/>
            <a:r>
              <a:t>• Solution: ensemble models, post-processing, data augmentation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Develop robust segmentation models</a:t>
            </a:r>
          </a:p>
          <a:p>
            <a:pPr/>
            <a:r>
              <a:t>• Leverage ensemble and post-processing methods</a:t>
            </a:r>
          </a:p>
          <a:p>
            <a:pPr/>
            <a:r>
              <a:t>• Contribute datasets/models to research community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Semantic segmentation using DNNs</a:t>
            </a:r>
          </a:p>
          <a:p>
            <a:pPr/>
            <a:r>
              <a:t>• Ensemble strategies: Stacking, Bagging</a:t>
            </a:r>
          </a:p>
          <a:p>
            <a:pPr/>
            <a:r>
              <a:t>• Post-processing: CRF, Otsu</a:t>
            </a:r>
          </a:p>
          <a:p>
            <a:pPr/>
            <a:r>
              <a:t>• RF classification for waterbody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CDUWD: 0.27m resolution, 6-class labels</a:t>
            </a:r>
          </a:p>
          <a:p>
            <a:pPr/>
            <a:r>
              <a:t>• Kolkata: 1333 images with shape features</a:t>
            </a:r>
          </a:p>
          <a:p>
            <a:pPr/>
            <a:r>
              <a:t>• LNDST: 1399 RGB images with binary masks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U-Net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Encoder-decoder with skip connections</a:t>
            </a:r>
          </a:p>
          <a:p>
            <a:pPr/>
            <a:r>
              <a:t>• Used as baseline in all studies</a:t>
            </a:r>
          </a:p>
          <a:p>
            <a:pPr/>
            <a:r>
              <a:t>• Strong performance in segmentation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BCDU-Net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U-Net with ConvLSTM and Dense connections</a:t>
            </a:r>
          </a:p>
          <a:p>
            <a:pPr/>
            <a:r>
              <a:t>• Better spatial context handling</a:t>
            </a:r>
          </a:p>
          <a:p>
            <a:pPr/>
            <a:r>
              <a:t>• Effective on irregular waterbodies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DeepWaterMap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Lightweight CNN for satellite segmentation</a:t>
            </a:r>
          </a:p>
          <a:p>
            <a:pPr/>
            <a:r>
              <a:t>• Memory-efficient architecture</a:t>
            </a:r>
          </a:p>
          <a:p>
            <a:pPr/>
            <a:r>
              <a:t>• Underperforms on fragmented shapes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Ad-SegFormer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Based on SegFormer + DenseASPP + AFPN</a:t>
            </a:r>
          </a:p>
          <a:p>
            <a:pPr/>
            <a:r>
              <a:t>• Excellent feature fusion and coverage</a:t>
            </a:r>
          </a:p>
          <a:p>
            <a:pPr/>
            <a:r>
              <a:t>• 95.59% IoU, 96.42% F1 on CDUWD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Stacked Ensemble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Combines U-Net, BCDU-Net, DeepWaterMap</a:t>
            </a:r>
          </a:p>
          <a:p>
            <a:pPr/>
            <a:r>
              <a:t>• Pixel-level classifier on merged masks</a:t>
            </a:r>
          </a:p>
          <a:p>
            <a:pPr/>
            <a:r>
              <a:t>• F1 = 97.1% on LNDST dataset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Applied to Kolkata dataset post-segmentation</a:t>
            </a:r>
          </a:p>
          <a:p>
            <a:pPr/>
            <a:r>
              <a:t>• Shape-based classification (area, compactness)</a:t>
            </a:r>
          </a:p>
          <a:p>
            <a:pPr/>
            <a:r>
              <a:t>• Accuracy: 67.1%, affected by overlaps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Augmentation &amp; Post-processing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Augmentation: rotation, flipping, shifting</a:t>
            </a:r>
          </a:p>
          <a:p>
            <a:pPr/>
            <a:r>
              <a:t>• Enlarges dataset and enhances robustness</a:t>
            </a:r>
          </a:p>
          <a:p>
            <a:pPr/>
            <a:r>
              <a:t>• Post-processing: CRF and Otsu for mask refinement</a:t>
            </a:r>
          </a:p>
          <a:p>
            <a:pPr/>
            <a:r>
              <a:t>• Uplifts F1 by up to 2.41%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All metrics tied to respective datasets</a:t>
            </a:r>
          </a:p>
          <a:p>
            <a:pPr/>
            <a:r>
              <a:t>• U-Net: 95.48% F1 (LNDST)</a:t>
            </a:r>
          </a:p>
          <a:p>
            <a:pPr/>
            <a:r>
              <a:t>• BCDU-Net: 96.00% F1 (LNDST)</a:t>
            </a:r>
          </a:p>
          <a:p>
            <a:pPr/>
            <a:r>
              <a:t>• DeepWaterMap: 92.74% F1 (LNDST)</a:t>
            </a:r>
          </a:p>
          <a:p>
            <a:pPr/>
            <a:r>
              <a:t>• Ad-SegFormer: 96.42% F1 (CDUWD)</a:t>
            </a:r>
          </a:p>
          <a:p>
            <a:pPr/>
            <a:r>
              <a:t>• Ensemble: 96.15% F1 (LNDST)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Uncertainty Quantification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Epistemic: model uncertainty (dropout)</a:t>
            </a:r>
          </a:p>
          <a:p>
            <a:pPr/>
            <a:r>
              <a:t>• Aleatoric: noisy input variations</a:t>
            </a:r>
          </a:p>
          <a:p>
            <a:pPr/>
            <a:r>
              <a:t>• Ensembles improve robustness and confidence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Ensembles outperform single models</a:t>
            </a:r>
          </a:p>
          <a:p>
            <a:pPr/>
            <a:r>
              <a:t>• Post-processing is crucial for precision</a:t>
            </a:r>
          </a:p>
          <a:p>
            <a:pPr/>
            <a:r>
              <a:t>• Future work: multispectral data, GIS integration, real-time models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Moradkhani &amp; Fathi (2022), Applied Soft Computing</a:t>
            </a:r>
          </a:p>
          <a:p>
            <a:pPr/>
            <a:r>
              <a:t>• Xicheng et al. (2024), Remote Sensing</a:t>
            </a:r>
          </a:p>
          <a:p>
            <a:pPr/>
            <a:r>
              <a:t>• JOIG Kolkata study (2025)</a:t>
            </a:r>
          </a:p>
          <a:p>
            <a:pPr/>
            <a:r>
              <a:t>• LNDST Dataset &amp; GitHub: github.com/xicheng79/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